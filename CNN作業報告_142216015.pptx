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1080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玳如 劉" userId="57117983bbab1dfe" providerId="LiveId" clId="{88C8B942-2A23-4B58-AE9A-40DBB63FF690}"/>
    <pc:docChg chg="custSel modSld">
      <pc:chgData name="玳如 劉" userId="57117983bbab1dfe" providerId="LiveId" clId="{88C8B942-2A23-4B58-AE9A-40DBB63FF690}" dt="2026-04-18T09:01:20.772" v="0" actId="478"/>
      <pc:docMkLst>
        <pc:docMk/>
      </pc:docMkLst>
      <pc:sldChg chg="delSp mod">
        <pc:chgData name="玳如 劉" userId="57117983bbab1dfe" providerId="LiveId" clId="{88C8B942-2A23-4B58-AE9A-40DBB63FF690}" dt="2026-04-18T09:01:20.772" v="0" actId="478"/>
        <pc:sldMkLst>
          <pc:docMk/>
          <pc:sldMk cId="0" sldId="264"/>
        </pc:sldMkLst>
        <pc:picChg chg="del">
          <ac:chgData name="玳如 劉" userId="57117983bbab1dfe" providerId="LiveId" clId="{88C8B942-2A23-4B58-AE9A-40DBB63FF690}" dt="2026-04-18T09:01:20.772" v="0" actId="478"/>
          <ac:picMkLst>
            <pc:docMk/>
            <pc:sldMk cId="0" sldId="264"/>
            <ac:picMk id="38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44415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320040" y="27432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國立臺北護理健康大學  ·  CNN Network 課程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1005840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影像分類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320040" y="182880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作業成果報告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292608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1A3A6B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320040" y="29260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作業一  類神經網路遊樂場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64408" y="292608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1A3A6B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3264408" y="29260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作業二  AlexNet 模型調參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08776" y="292608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1A3A6B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6208776" y="29260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作業三  FC 大小與 Dropout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20040" y="470916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 ·  深度學習基礎課程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320040" y="109728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作業一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20040" y="1508760"/>
            <a:ext cx="8503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類神經網路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遊樂場練習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20040" y="324612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for Developers  ·  互動式神經網路訓練練習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作業一  —  練習一：認識參數與隱藏層</a:t>
            </a:r>
            <a:endParaRPr lang="en-US" sz="1700" dirty="0"/>
          </a:p>
        </p:txBody>
      </p:sp>
      <p:sp>
        <p:nvSpPr>
          <p:cNvPr id="3" name="Shape 1"/>
          <p:cNvSpPr/>
          <p:nvPr/>
        </p:nvSpPr>
        <p:spPr>
          <a:xfrm>
            <a:off x="365760" y="621792"/>
            <a:ext cx="8412480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256032" y="749808"/>
            <a:ext cx="274320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256032" y="749808"/>
            <a:ext cx="2743200" cy="47548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256032" y="749808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任務一：輸入值全為 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298448"/>
            <a:ext cx="2523744" cy="3456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輸入層三個神經元值均為 0.00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所有權重乘以 0 → 歸零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輸出值僅取決於偏差值 b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結論：ReLU(b) → b 若為負則輸出 0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00400" y="749808"/>
            <a:ext cx="274320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3200400" y="749808"/>
            <a:ext cx="274320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3200400" y="749808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任務二：新增隱藏層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10128" y="1298448"/>
            <a:ext cx="2523744" cy="3456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在第一隱藏層後新增第二層（3個節點）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前饋網路：計算由前往後傳遞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新增層只影響其之後的節點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結論：第一層的值完全不受影響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44768" y="749808"/>
            <a:ext cx="274320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6144768" y="749808"/>
            <a:ext cx="2743200" cy="4754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6144768" y="749808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任務三：修改權重 w₁₂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54496" y="1298448"/>
            <a:ext cx="2523744" cy="3456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改變 w₁₂ 的值為 5.00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影響：第一層第二節點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第二隱藏層所有節點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輸出節點（下游全部影響）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56032" y="4864608"/>
            <a:ext cx="8631936" cy="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作業一  —  練習二：訓練神經網路分類非線性資料</a:t>
            </a:r>
            <a:endParaRPr lang="en-US" sz="1700" dirty="0"/>
          </a:p>
        </p:txBody>
      </p:sp>
      <p:sp>
        <p:nvSpPr>
          <p:cNvPr id="3" name="Shape 1"/>
          <p:cNvSpPr/>
          <p:nvPr/>
        </p:nvSpPr>
        <p:spPr>
          <a:xfrm>
            <a:off x="365760" y="621792"/>
            <a:ext cx="8412480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274320" y="713232"/>
            <a:ext cx="8595360" cy="4572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411480" y="713232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目標：訓練神經網路，使橙色點與藍色點的 Test Loss 與 Train Loss 均低於 0.2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74320" y="126187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練習過程遭遇的狀況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664208"/>
            <a:ext cx="822960" cy="8686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274320" y="1664208"/>
            <a:ext cx="822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狀況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115568" y="1664208"/>
            <a:ext cx="7754112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1234440" y="1700784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遭遇：只有 1 層隱藏層時，決策邊界是直線，無法分離圓形分佈的資料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34440" y="2093976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解決：新增第二隱藏層，讓模型學習非線性邊界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743200"/>
            <a:ext cx="822960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274320" y="2743200"/>
            <a:ext cx="822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狀況 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115568" y="2743200"/>
            <a:ext cx="7754112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1234440" y="2779776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遭遇：學習率設為 0.1 時，Loss 曲線劇烈震盪，模型無法收斂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234440" y="3172968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解決：改為 0.01，Loss 曲線變得平滑穩定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822192"/>
            <a:ext cx="822960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274320" y="3822192"/>
            <a:ext cx="822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狀況 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115568" y="3822192"/>
            <a:ext cx="7754112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1234440" y="3858768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遭遇：使用 Sigmoid 激活函數時，收斂速度明顯較慢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234440" y="4251960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解決：改用 ReLU 後，收斂加快，效果明顯改善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4919472"/>
            <a:ext cx="8595360" cy="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411480" y="4773168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最終設定：2 個隱藏層（各 3 個神經元）  |  學習率 0.01  |  ReLU  →  Test Loss &lt; 0.2  ✓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320040" y="109728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作業二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20040" y="1508760"/>
            <a:ext cx="8503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AlexNet 模型調參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（學習率與通道數）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20040" y="3273552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AlexNet_Build.ipynb  ·  一次固定一個參數進行比較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作業二  —  實驗 A：學習率調整</a:t>
            </a:r>
            <a:endParaRPr lang="en-US" sz="1700" dirty="0"/>
          </a:p>
        </p:txBody>
      </p:sp>
      <p:sp>
        <p:nvSpPr>
          <p:cNvPr id="3" name="Shape 1"/>
          <p:cNvSpPr/>
          <p:nvPr/>
        </p:nvSpPr>
        <p:spPr>
          <a:xfrm>
            <a:off x="365760" y="621792"/>
            <a:ext cx="841248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調整程式碼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3931920" cy="1600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36576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固定通道數 = 6，只改 lr
</a:t>
            </a:r>
            <a:r>
              <a:rPr lang="en-US" sz="10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optimizer</a:t>
            </a: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torch.optim.</a:t>
            </a:r>
            <a:r>
              <a:rPr lang="en-US" sz="10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Adam</a:t>
            </a: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net.parameters(),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lr</a:t>
            </a: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0.001</a:t>
            </a: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調整此參數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434840" y="685800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各學習率結果比較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34840" y="1005840"/>
          <a:ext cx="4389120" cy="187452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學習率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效果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Tensorboard 表現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0.1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太大，Loss 爆炸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曲線劇烈震盪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0.01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</a:rPr>
                        <a:t>偏快，可能過衝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下降但不穩定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0.001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</a:rPr>
                        <a:t>穩定收斂（推薦）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平滑下降曲線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0.0001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太慢，訓練效率低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幾乎平坦，極慢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274320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訓練損失曲線（Train Loss）</a:t>
            </a:r>
            <a:endParaRPr lang="en-US" sz="105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017520"/>
            <a:ext cx="4251960" cy="19202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63440" y="274320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測試準確率曲線（Test Accuracy）</a:t>
            </a:r>
            <a:endParaRPr lang="en-US" sz="105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3017520"/>
            <a:ext cx="4251960" cy="19202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作業二  —  實驗 B：通道數調整</a:t>
            </a:r>
            <a:endParaRPr lang="en-US" sz="1700" dirty="0"/>
          </a:p>
        </p:txBody>
      </p:sp>
      <p:sp>
        <p:nvSpPr>
          <p:cNvPr id="3" name="Shape 1"/>
          <p:cNvSpPr/>
          <p:nvPr/>
        </p:nvSpPr>
        <p:spPr>
          <a:xfrm>
            <a:off x="365760" y="621792"/>
            <a:ext cx="841248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調整程式碼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3931920" cy="160020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36576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固定 lr=0.001，只改通道數
# 原始：
</a:t>
            </a:r>
            <a:r>
              <a:rPr lang="en-US" sz="10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nn.Conv2d</a:t>
            </a: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(1, </a:t>
            </a: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5)
</a:t>
            </a: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改為（逐步嘗試）：
</a:t>
            </a:r>
            <a:r>
              <a:rPr lang="en-US" sz="10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nn.Conv2d</a:t>
            </a: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(1, </a:t>
            </a:r>
            <a:r>
              <a:rPr lang="en-US" sz="10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5)
</a:t>
            </a:r>
            <a:r>
              <a:rPr lang="en-US" sz="10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nn.Conv2d</a:t>
            </a: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(1, </a:t>
            </a:r>
            <a:r>
              <a:rPr lang="en-US" sz="100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</a:t>
            </a: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5)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434840" y="685800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各通道數結果比較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34840" y="1005840"/>
          <a:ext cx="4389120" cy="1682496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通道數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特徵豐富度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計算成本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過擬合風險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ch=6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低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C55E"/>
                          </a:solidFill>
                        </a:rPr>
                        <a:t>快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2C55E"/>
                          </a:solidFill>
                        </a:rPr>
                        <a:t>低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ch=16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</a:rPr>
                        <a:t>均衡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</a:rPr>
                        <a:t>中等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</a:rPr>
                        <a:t>中等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ch=32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3A6B"/>
                          </a:solidFill>
                        </a:rPr>
                        <a:t>高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慢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</a:rPr>
                        <a:t>高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434840" y="271576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建議：從 ch=16 開始，若 Train 仍欠擬合再增加至 32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20040" y="283464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訓練損失曲線（Train Loss）</a:t>
            </a:r>
            <a:endParaRPr lang="en-US" sz="105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108960"/>
            <a:ext cx="4251960" cy="18288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63440" y="283464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測試準確率曲線（Test Accuracy）</a:t>
            </a:r>
            <a:endParaRPr lang="en-US" sz="105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3108960"/>
            <a:ext cx="425196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320040" y="109728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作業三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20040" y="1508760"/>
            <a:ext cx="8503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全連接層大小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與 Dropout 調參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20040" y="324612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比較 FC 小／中／大模型  ·  Dropout 0 / 0.3 / 0.5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作業三  —  實驗 A：全連接層（FC）大小比較</a:t>
            </a:r>
            <a:endParaRPr lang="en-US" sz="1700" dirty="0"/>
          </a:p>
        </p:txBody>
      </p:sp>
      <p:sp>
        <p:nvSpPr>
          <p:cNvPr id="3" name="Shape 1"/>
          <p:cNvSpPr/>
          <p:nvPr/>
        </p:nvSpPr>
        <p:spPr>
          <a:xfrm>
            <a:off x="365760" y="621792"/>
            <a:ext cx="8412480" cy="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固定條件：Dropout=0.5  |  lr=0.001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56032" y="987552"/>
            <a:ext cx="27432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256032" y="987552"/>
            <a:ext cx="2743200" cy="4114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256032" y="98755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 小模型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47472" y="14630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6400→512→10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7472" y="1755648"/>
            <a:ext cx="2560320" cy="132588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393192" y="1792224"/>
            <a:ext cx="246888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nn.Linear(6400, 512)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nn.ReLU()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nn.Dropout(0.5)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nn.Linear(512, 10)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47472" y="314553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Acc：72%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7472" y="341985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 Acc：70%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7472" y="370332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Train-Test 差距：2%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4672" y="4041648"/>
            <a:ext cx="1645920" cy="274320"/>
          </a:xfrm>
          <a:prstGeom prst="roundRect">
            <a:avLst>
              <a:gd name="adj" fmla="val 16667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804672" y="404164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正常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0" y="987552"/>
            <a:ext cx="27432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3200400" y="987552"/>
            <a:ext cx="2743200" cy="4114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3200400" y="98755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 中模型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291840" y="14630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6400→1024→256→10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91840" y="1755648"/>
            <a:ext cx="2560320" cy="132588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3337560" y="1792224"/>
            <a:ext cx="246888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nn.Linear(6400, 1024)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nn.ReLU(), Dropout(0.5)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nn.Linear(1024, 256)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nn.ReLU(), Dropout(0.5)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nn.Linear(256, 10)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291840" y="314553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Acc：82%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91840" y="341985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 Acc：79%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91840" y="370332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Train-Test 差距：3%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749040" y="4041648"/>
            <a:ext cx="1645920" cy="274320"/>
          </a:xfrm>
          <a:prstGeom prst="roundRect">
            <a:avLst>
              <a:gd name="adj" fmla="val 16667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4"/>
          <p:cNvSpPr/>
          <p:nvPr/>
        </p:nvSpPr>
        <p:spPr>
          <a:xfrm>
            <a:off x="3749040" y="404164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推薦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144768" y="987552"/>
            <a:ext cx="27432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8" name="Shape 26"/>
          <p:cNvSpPr/>
          <p:nvPr/>
        </p:nvSpPr>
        <p:spPr>
          <a:xfrm>
            <a:off x="6144768" y="987552"/>
            <a:ext cx="274320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7"/>
          <p:cNvSpPr/>
          <p:nvPr/>
        </p:nvSpPr>
        <p:spPr>
          <a:xfrm>
            <a:off x="6144768" y="98755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 大模型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236208" y="14630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6400→2048→1024→10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36208" y="1755648"/>
            <a:ext cx="2560320" cy="132588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Text 30"/>
          <p:cNvSpPr/>
          <p:nvPr/>
        </p:nvSpPr>
        <p:spPr>
          <a:xfrm>
            <a:off x="6281928" y="1792224"/>
            <a:ext cx="246888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nn.Linear(6400, 2048)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nn.ReLU(), Dropout(0.5)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nn.Linear(2048, 1024)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nn.ReLU(), Dropout(0.5)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nn.Linear(1024, 10)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236208" y="314553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Acc：93%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236208" y="341985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 Acc：77%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236208" y="370332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Train-Test 差距：16%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693408" y="4041648"/>
            <a:ext cx="1645920" cy="274320"/>
          </a:xfrm>
          <a:prstGeom prst="roundRect">
            <a:avLst>
              <a:gd name="adj" fmla="val 16667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" name="Text 35"/>
          <p:cNvSpPr/>
          <p:nvPr/>
        </p:nvSpPr>
        <p:spPr>
          <a:xfrm>
            <a:off x="6693408" y="404164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過擬合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作業三  —  實驗 A：Train vs Test Accuracy 曲線</a:t>
            </a:r>
            <a:endParaRPr lang="en-US" sz="1700" dirty="0"/>
          </a:p>
        </p:txBody>
      </p:sp>
      <p:sp>
        <p:nvSpPr>
          <p:cNvPr id="3" name="Shape 1"/>
          <p:cNvSpPr/>
          <p:nvPr/>
        </p:nvSpPr>
        <p:spPr>
          <a:xfrm>
            <a:off x="365760" y="621792"/>
            <a:ext cx="8412480" cy="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31520"/>
            <a:ext cx="8595360" cy="3931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4773168"/>
            <a:ext cx="8595360" cy="292608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3"/>
          <p:cNvSpPr/>
          <p:nvPr/>
        </p:nvSpPr>
        <p:spPr>
          <a:xfrm>
            <a:off x="411480" y="4773168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觀察：FC 大模型的 Train Acc 高達 93%，但 Test Acc 僅 77%，差距 16% → 明顯過擬合，需配合較大 Dropout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作業三  —  實驗 B：Dropout 比率比較</a:t>
            </a:r>
            <a:endParaRPr lang="en-US" sz="1700" dirty="0"/>
          </a:p>
        </p:txBody>
      </p:sp>
      <p:sp>
        <p:nvSpPr>
          <p:cNvPr id="3" name="Shape 1"/>
          <p:cNvSpPr/>
          <p:nvPr/>
        </p:nvSpPr>
        <p:spPr>
          <a:xfrm>
            <a:off x="365760" y="621792"/>
            <a:ext cx="8412480" cy="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固定條件：FC=小模型  |  lr=0.001  |  只調整 Dropout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9875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調整程式碼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280160"/>
            <a:ext cx="3200400" cy="109728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457200" y="1316736"/>
            <a:ext cx="292608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nn.Dropout</a:t>
            </a: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 # 無正規化
</a:t>
            </a:r>
            <a:r>
              <a:rPr lang="en-US" sz="10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nn.Dropout</a:t>
            </a: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</a:t>
            </a: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# 輕度正規化
</a:t>
            </a:r>
            <a:r>
              <a:rPr lang="en-US" sz="10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nn.Dropout</a:t>
            </a: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</a:t>
            </a: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# 推薦設定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11880" y="987552"/>
            <a:ext cx="16916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3611880" y="987552"/>
            <a:ext cx="1691640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3611880" y="987552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= 0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703320" y="1435608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Train：96%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703320" y="1691640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：68%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703320" y="1947672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差距：28%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703320" y="2231136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模型記住訓練資料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嚴重過擬合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40680" y="987552"/>
            <a:ext cx="16916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5440680" y="987552"/>
            <a:ext cx="169164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5440680" y="987552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= 0.3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532120" y="1435608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Train：85%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532120" y="1691640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：78%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532120" y="1947672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差距：7%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532120" y="2231136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輕度正規化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仍有部分過擬合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269480" y="987552"/>
            <a:ext cx="16916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3" name="Shape 21"/>
          <p:cNvSpPr/>
          <p:nvPr/>
        </p:nvSpPr>
        <p:spPr>
          <a:xfrm>
            <a:off x="7269480" y="987552"/>
            <a:ext cx="1691640" cy="3840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2"/>
          <p:cNvSpPr/>
          <p:nvPr/>
        </p:nvSpPr>
        <p:spPr>
          <a:xfrm>
            <a:off x="7269480" y="987552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= 0.5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360920" y="1435608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Train：81%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360920" y="1691640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：80%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360920" y="1947672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差距：1%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360920" y="2231136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≈ Test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泛化效果最佳</a:t>
            </a:r>
            <a:endParaRPr lang="en-US" sz="1000" dirty="0"/>
          </a:p>
        </p:txBody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3429000"/>
            <a:ext cx="8631936" cy="1554480"/>
          </a:xfrm>
          <a:prstGeom prst="rect">
            <a:avLst/>
          </a:prstGeom>
        </p:spPr>
      </p:pic>
      <p:sp>
        <p:nvSpPr>
          <p:cNvPr id="30" name="Shape 27"/>
          <p:cNvSpPr/>
          <p:nvPr/>
        </p:nvSpPr>
        <p:spPr>
          <a:xfrm>
            <a:off x="274320" y="5047488"/>
            <a:ext cx="8595360" cy="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Text 28"/>
          <p:cNvSpPr/>
          <p:nvPr/>
        </p:nvSpPr>
        <p:spPr>
          <a:xfrm>
            <a:off x="411480" y="491032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原則：若 Train Acc &gt;&gt; Test Acc（差距 &gt; 10%）→ 加大 Dropout；目標差距 &lt; 5%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320040" y="22860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學習重點總結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56032" y="896112"/>
            <a:ext cx="594360" cy="117043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256032" y="896112"/>
            <a:ext cx="59436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作業一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68680" y="896112"/>
            <a:ext cx="8001000" cy="1170432"/>
          </a:xfrm>
          <a:prstGeom prst="rect">
            <a:avLst/>
          </a:prstGeom>
          <a:solidFill>
            <a:srgbClr val="0D1F3C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1024128" y="1005840"/>
            <a:ext cx="769924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神經網路前向計算：修改權重只影響下游節點，不影響上游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非線性資料需要多隱藏層 + ReLU 才能學習曲線決策邊界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學習率過大 → Loss 震盪；學習率過小 → 收斂過慢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56032" y="2267712"/>
            <a:ext cx="594360" cy="1170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256032" y="2267712"/>
            <a:ext cx="59436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作業二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68680" y="2267712"/>
            <a:ext cx="8001000" cy="1170432"/>
          </a:xfrm>
          <a:prstGeom prst="rect">
            <a:avLst/>
          </a:prstGeom>
          <a:solidFill>
            <a:srgbClr val="0D1F3C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1024128" y="2377440"/>
            <a:ext cx="769924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lr=0.001 是 Adam 優化器的穩定預設值，建議從此出發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通道數增加 → 特徵更豐富，但訓練時間增加且容易過擬合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調參原則：一次只改一個參數，用 Loss 曲線比較好壞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56032" y="3639312"/>
            <a:ext cx="594360" cy="11704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256032" y="3639312"/>
            <a:ext cx="59436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作業三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68680" y="3639312"/>
            <a:ext cx="8001000" cy="1170432"/>
          </a:xfrm>
          <a:prstGeom prst="rect">
            <a:avLst/>
          </a:prstGeom>
          <a:solidFill>
            <a:srgbClr val="0D1F3C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1024128" y="3749040"/>
            <a:ext cx="769924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 層越大 → 表達能力越強，但 Train-Test 差距會明顯擴大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Dropout=0.5 是防止過擬合最直接有效的方法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診斷過擬合：Train Acc 遠高於 Test Acc（差距 &gt; 10%）即需加大 Dropout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20040" y="4846320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 ·  CNN Network 課程  ·  國立臺北護理健康大學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826</Words>
  <Application>Microsoft Office PowerPoint</Application>
  <PresentationFormat>如螢幕大小 (16:9)</PresentationFormat>
  <Paragraphs>181</Paragraphs>
  <Slides>12</Slides>
  <Notes>12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6" baseType="lpstr">
      <vt:lpstr>Arial</vt:lpstr>
      <vt:lpstr>Calibri</vt:lpstr>
      <vt:lpstr>Courier New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CNN 作業報告</dc:title>
  <dc:subject>PptxGenJS Presentation</dc:subject>
  <dc:creator>PptxGenJS</dc:creator>
  <cp:lastModifiedBy>玳如 劉</cp:lastModifiedBy>
  <cp:revision>1</cp:revision>
  <dcterms:created xsi:type="dcterms:W3CDTF">2026-04-18T08:47:42Z</dcterms:created>
  <dcterms:modified xsi:type="dcterms:W3CDTF">2026-04-18T09:01:24Z</dcterms:modified>
</cp:coreProperties>
</file>